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</p:sldIdLst>
  <p:notesMasterIdLst>
    <p:notesMasterId r:id="rId5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notesMaster" Target="notesMasters/notesMaster1.xml"/><Relationship Id="rId60" Type="http://schemas.openxmlformats.org/officeDocument/2006/relationships/presProps" Target="presProps.xml"/><Relationship Id="rId61" Type="http://schemas.openxmlformats.org/officeDocument/2006/relationships/viewProps" Target="viewProps.xml"/><Relationship Id="rId62" Type="http://schemas.openxmlformats.org/officeDocument/2006/relationships/theme" Target="theme/theme1.xml"/><Relationship Id="rId6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 (R$ bi)</c:v>
                </c:pt>
              </c:strCache>
            </c:strRef>
          </c:tx>
          <c:spPr>
            <a:solidFill>
              <a:srgbClr val="003A7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003A7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Sorocaba</c:v>
                  </c:pt>
                  <c:pt idx="1">
                    <c:v>Campinas</c:v>
                  </c:pt>
                  <c:pt idx="2">
                    <c:v>Piracicaba</c:v>
                  </c:pt>
                  <c:pt idx="3">
                    <c:v>Jundiaí</c:v>
                  </c:pt>
                  <c:pt idx="4">
                    <c:v>Outros/Não monetizados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13.2</c:v>
                </c:pt>
                <c:pt idx="1">
                  <c:v>12.5</c:v>
                </c:pt>
                <c:pt idx="2">
                  <c:v>7.9</c:v>
                </c:pt>
                <c:pt idx="3">
                  <c:v>0.5</c:v>
                </c:pt>
                <c:pt idx="4">
                  <c:v>12.9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003A7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5B5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7D9D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8886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A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457200"/>
            <a:ext cx="1554480" cy="4114800"/>
          </a:xfrm>
          <a:prstGeom prst="line">
            <a:avLst/>
          </a:prstGeom>
          <a:noFill/>
          <a:ln w="15240">
            <a:solidFill>
              <a:srgbClr val="008B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457200"/>
            <a:ext cx="-1554480" cy="4114800"/>
          </a:xfrm>
          <a:prstGeom prst="line">
            <a:avLst/>
          </a:prstGeom>
          <a:noFill/>
          <a:ln w="15240">
            <a:solidFill>
              <a:srgbClr val="008B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Praças sob a Lupa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  |  Piracicaba  |  Jundiaí  |  Sorocaba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1371600" cy="0"/>
          </a:xfrm>
          <a:prstGeom prst="line">
            <a:avLst/>
          </a:prstGeom>
          <a:noFill/>
          <a:ln w="25400">
            <a:solidFill>
              <a:srgbClr val="008B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estratégico da operação MBA — janela mai/2025 a mai/2026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Apresentação à Diretoria FGV  •  Mai/2026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Gerência Regional de MBA  +  Data Intelligence — Gabriella Pinheiro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perguntas que motivaram este estudo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gerência regional formulou seis perguntas-chave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94360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alocar investimento de marketing e operação?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54680" y="1188720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Quanto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alocar por praça?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0" y="1188720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0" y="1188720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72200" y="175564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portfólio ofertar em cada praça?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70632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770632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935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adaptar a operação à mudança estrutural dos últimos 12 meses?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770632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770632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83280" y="2935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38328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ficamos frente ao Pecege e demais concorrentes mapeados?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943600" y="2770632"/>
            <a:ext cx="269748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770632"/>
            <a:ext cx="73152" cy="141732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72200" y="29352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172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sensibilidade da demanda a movimentos de preço?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descritiva: investimentos privados anunciados, leitura institucional dos concorrentes mapeados, estimativa de pool com CBOs × Caged, e literatura aplicada a serviços educacionais para inferência de elasticidade de preço.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57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macro ao operacional — em 10 blocos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80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macro das 4 praças — números fundamentais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73936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17282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de investimentos R$ 47 bi+ em 12 meses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221992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21762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talentos e direcionadores de demanda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26243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regional — Pecege e demais players mapeados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118104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30723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Campinas — pesquisa Markka 2023 (complementar)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1325880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74920" y="1280160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PESTEL, Porter, SWOT, Ansoff, BCG, GE/McKinsey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63440" y="1773936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7739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74920" y="1728216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de marketing por praça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221992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22219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74920" y="2176272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preço-demanda — cenários e pontos ótimos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663440" y="2670048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670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74920" y="262432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fatores de risco competitivo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118104"/>
            <a:ext cx="274320" cy="27432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31181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74920" y="3072384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linhas de ação — 18 meses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57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UP FRONT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Achados centrais em 60 segundos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BLUF — a substância do estudo antes da fundamentação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57400" cy="8686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R$ 265 bi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somado das 4 praças (IBGE, 2023)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87168" y="1188720"/>
            <a:ext cx="2057400" cy="8686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78608" y="1234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R$ 47 bi+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578608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Investimentos privados anunciados em 12 meses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08576" y="1188720"/>
            <a:ext cx="2057400" cy="8686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0016" y="1234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 mil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700016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gerência média nas 4 praças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9984" y="1188720"/>
            <a:ext cx="2057400" cy="8686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21424" y="12344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8,5–12,5 mil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821424" y="169164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sênior + C-level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2286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linhas de ação propostas para discussão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2651760"/>
            <a:ext cx="1673352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51760"/>
            <a:ext cx="1673352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57200" y="315468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Adensar Campinas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verticais em IA por setor + healthcare ops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84832" y="2651760"/>
            <a:ext cx="1673352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084832" y="2651760"/>
            <a:ext cx="1673352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176272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176272" y="315468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Consolidar Sorocaba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176272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direta + manufatura avançada/eletromob.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803904" y="2651760"/>
            <a:ext cx="1673352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03904" y="2651760"/>
            <a:ext cx="1673352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95344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3895344" y="315468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Explorar Piracicaba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95344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corporativas premium (B2B)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522976" y="2651760"/>
            <a:ext cx="1673352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522976" y="2651760"/>
            <a:ext cx="1673352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614416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5614416" y="315468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Tratar Jundiaí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14416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curtos + in-company (satélite Camp)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42048" y="2651760"/>
            <a:ext cx="1673352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42048" y="2651760"/>
            <a:ext cx="1673352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33488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7333488" y="3154680"/>
            <a:ext cx="1490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flagships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333488" y="3474720"/>
            <a:ext cx="1490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+ Cooperativismo (FGV-distintivos)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opera diretamente nas 4 praças. Pecege é o concorrente competitivo regional mais relevante (polo, campus, inovação, investimentos). FDC, Saint Paul, Insper, IBMEC e PUC-Camp compõem o quadro complementar a ser monitorado.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57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ECONÔMICO-SOCIAL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praças em números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consolidada (IBGE 2023; Caged 2025; CA 2026)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08760"/>
                <a:gridCol w="1508760"/>
                <a:gridCol w="1508760"/>
                <a:gridCol w="15087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Indicador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Jundiaí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Sorocaba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Piracicaba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População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1,19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 mil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 mil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441 mil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2023 (R$ bi)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97,56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PIB per capita (R$)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80.741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147.598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104.770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Ranking PIB BR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Saldo Caged 2025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+3.304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+3.210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+5.534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Indústria no VAB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Serviços no VAB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3931920"/>
            <a:ext cx="8412480" cy="8686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65760" y="3931920"/>
            <a:ext cx="73152" cy="8686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977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analítica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4187952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Estruturas econômicas distintas indicam composições de portfolio distintas — não há razão observável para esperar que o mesmo MBA atinja a mesma demanda nas quatro praças. Jundiaí: PIB per capita 1,82× Campinas. Sorocaba: maior saldo Caged das 4. Campinas: serviços. Sorocaba/Pira: indústria.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57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— CAMPINAS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Campinas: o vetor de IA, data centers e healthcare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11º PIB do Brasil — R$ 97,56 bi (IBGE, 2023)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657600" cy="352044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centers • IA aplicada • Farmacêutico • Healthcare • Logística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148840"/>
            <a:ext cx="338328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Data Centers (JLL, 2025)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410 MW operacionais + 285 MW em construção + 320 MW planejados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Semicon — Lei 14.968/2024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R$ 24,8 bi previstos até 2035 — Campinas como epicentro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Eldorado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1º MOSFET de SiC do Brasil (mai/2025)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118872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Investimentos âncora (12 meses)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5087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0" y="1508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Bosch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15000" y="1508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 bi — motores elétricos, ECU/VCU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19659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9659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EMS Hortolândia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715000" y="19659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R$ 500 mi BNDES + GLP-1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60520" y="24231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4231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Livre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4231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logístico do grupo (~3.000 empregos)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60520" y="28803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28803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Iguatemi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15000" y="28803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Casa Figueira — R$ 10 bi PSV/20 anos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60520" y="33375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33375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Rede D'Or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715000" y="33375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R$ 493 mi — São Luiz: 242→325 leitos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160520" y="3794760"/>
            <a:ext cx="45720" cy="384048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97680" y="379476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Microsoft+AWS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15000" y="3794760"/>
            <a:ext cx="3063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Sumaré — expansão data centers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60520" y="4343400"/>
            <a:ext cx="4617720" cy="3657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0" y="4343400"/>
            <a:ext cx="4434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 estratégica: nenhum player premium domina IA aplicada por setor — janela aberta.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57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— SOROCABA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Sorocaba: ciclo industrial mais expressivo em 2025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24º PIB nacional — R$ 58,82 bi  •  Saldo Caged 2025: +5.534 (maior das 4)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9601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80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R$ 11,5 bi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2926080" y="1280160"/>
            <a:ext cx="5852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Sorocaba 2 — investimento até 2030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2.000 empregos diretos  •  Capacidade 268–368 mil veículos/ano (híbrido-flex e elétrico)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Inauguração mai/2026  •  R$ 500 mi BNDES Mais Inovação aprovados em jan/2026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investimentos âncora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69748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R$ 500 mi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aporte da empresa na América Latina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154680" y="269748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FUCHS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9184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R$ 220 mi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9184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Lubrificantes industriais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943600" y="269748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80760" y="27432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Valmet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29718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R$ 33–40 mi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80760" y="320040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Tecnologia e automação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56616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Ecosan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" y="3840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 mi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Saneamento industrial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356616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291840" y="3840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R$ 60 mi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Componentes especiais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43600" y="3566160"/>
            <a:ext cx="2697480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80760" y="36118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BNDES Toyota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080760" y="38404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R$ 500 mi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080760" y="40690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Mais Inovação — jan/2026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curta de adensamento em manufatura avançada e eletromobilidade. FGV opera diretamente na praça. (CA, 2026)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57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— PIRACICABA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Piracicaba: de capital sucroenergética a hub de bioeconomia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31º PIB do Brasil — R$ 44,35 bi  •  PIB per capita R$ 104.770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14173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011680" cy="5486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Hyundai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R$ 5,5 bi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Plano até 2032 — 3º modelo confirmado mar/2026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2011680" cy="14173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188720"/>
            <a:ext cx="2011680" cy="5486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0604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Klabin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060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R$ 1,56 bi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0604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fábrica de papelão ondulado (mar/2025)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88720"/>
            <a:ext cx="2011680" cy="14173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188720"/>
            <a:ext cx="2011680" cy="5486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Koppert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R$ 700 mi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916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1ª planta de defensivos agrobiológicos das Américas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1188720"/>
            <a:ext cx="2011680" cy="141732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188720"/>
            <a:ext cx="2011680" cy="5486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1325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Raízen+Shell+Senai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122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R$ 120 mi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12280" y="210312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 de Bioenergia — etanol 2G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788920"/>
            <a:ext cx="4160520" cy="8686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788920"/>
            <a:ext cx="73152" cy="86868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834640"/>
            <a:ext cx="3794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0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Setor sucroenergético em pressão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3063240"/>
            <a:ext cx="3794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Pior desempenho do IBRX-100 em 2025: queda média de 43,5%; Raízen recuou 62,5%. Sinal: o setor histórico está em transição — a oportunidade é transição energética e bioeconomia, não gestão sucroenergética tradicional.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17720" y="2788920"/>
            <a:ext cx="4160520" cy="8686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17720" y="2788920"/>
            <a:ext cx="73152" cy="86868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346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institucional do concorrente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00600" y="306324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dez/2025, o Instituto Pecege passou a gerir o Parque Tecnológico de Piracicaba (Edital 01/2025). Adensa o capital institucional do concorrente nº1 no ecossistema agtech local.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65760" y="3794760"/>
            <a:ext cx="8412480" cy="960120"/>
          </a:xfrm>
          <a:prstGeom prst="rect">
            <a:avLst/>
          </a:prstGeom>
          <a:solidFill>
            <a:srgbClr val="73BFE8"/>
          </a:solidFill>
          <a:ln w="12700">
            <a:solidFill>
              <a:srgbClr val="73BF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4864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Ecossistema agtech (referência global)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4114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ESALQ-USP  •  ESALQTec  •  Pulse/Raízen (R$ 40 mi em 6 anos)  •  PwC AgTech  •  Avance Hub/Coplacana  •  Gazebo/Koppert  •  Symbiomics (Série A Corteva, jun/2025)  •  Solinftec (R$ 189 mi via CRA Itaú BBA)  •  Rural Summit 2026 transferida para Piracicaba (parceria Pecege).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57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 — JUNDIAÍ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Jundiaí: o nó global de IA física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21º PIB BR — R$ 65,42 bi  •  PIB per capita R$ 147.598 — o mais alto da região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3200400" cy="18288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R$ 147.598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 2023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1,82× Campinas e Sorocaba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1,41× Piracicaba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1188720"/>
            <a:ext cx="5074920" cy="18288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703320" y="1188720"/>
            <a:ext cx="73152" cy="182880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86200" y="12801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Foxconn — IA física global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886200" y="1627632"/>
            <a:ext cx="4846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Servidores Nvidia GB200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produção desde 2025 — somando à fabricação histórica de iPhones e MacBooks na cidade.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4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6.000+</a:t>
            </a:r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empregados na cidade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3200400"/>
            <a:ext cx="1655064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2461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AGCO Reman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R$ 16 mi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3200400"/>
            <a:ext cx="1655064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2461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Solfácil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48840" y="3520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R$ 200 mi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749040" y="3200400"/>
            <a:ext cx="1655064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2461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Tupy/MWM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3520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CDP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40680" y="3200400"/>
            <a:ext cx="1655064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32461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Ascenty+C.Ventos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532120" y="3520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DC 100% renovável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3200400"/>
            <a:ext cx="1655064" cy="7772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324612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Invest+ Jundiaí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23760" y="352044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nov/2025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FDDB51">
              <a:alpha val="70000"/>
            </a:srgbClr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Implicação estratégica  </a:t>
            </a:r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 SP–Jundiaí–Campinas (R$ 14,2 bi; obras iniciadas mar/2026; operação 2030–2032) torna Jundiaí satélite de Campinas. Praça de programas curtos premium e in-company para diretoria de matriz.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57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ONDA DE INVESTIMENTOS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R$ 47 bi+ em investimentos privados em 12 meses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Vetores distintos por praça sugerem composições de portfolio distintas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18872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760720" y="1188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Vetor predominante por praça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760720" y="1508760"/>
            <a:ext cx="3017520" cy="6400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60720" y="1508760"/>
            <a:ext cx="45720" cy="6400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897880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97880" y="175564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Eletromobilidade — Toyota 2, JCB, FUCHS, Valmet, Ecosan, Vertex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760720" y="2221992"/>
            <a:ext cx="3017520" cy="6400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760720" y="2221992"/>
            <a:ext cx="45720" cy="6400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897880" y="226771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97880" y="24688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— Iguatemi, Bosch, EMS, TIP, Rede D'Or, data centers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760720" y="2935224"/>
            <a:ext cx="3017520" cy="6400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760720" y="2935224"/>
            <a:ext cx="45720" cy="6400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2980944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18211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Bioeconomia — Hyundai, Klabin, Koppert, Raízen Bioenergia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60720" y="3648456"/>
            <a:ext cx="3017520" cy="6400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60720" y="3648456"/>
            <a:ext cx="45720" cy="6400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97880" y="3694176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897880" y="389534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+ IA física — Solfácil, Ascenty, AGCO, Foxconn (sem cifra)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365760" y="425196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CA, 2026; Seade/Piesp, 2024. Total mapeado considera data centers planejados em Campinas e investimentos não monetizados publicamente (Foxconn).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57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TALENTOS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talentos executivos — 4 praças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 baseada em CBOs 1xxx/2512-15 cruzados com Caged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0" y="1188720"/>
            <a:ext cx="3657600" cy="594360"/>
          </a:xfrm>
          <a:prstGeom prst="rect">
            <a:avLst/>
          </a:prstGeom>
          <a:solidFill>
            <a:srgbClr val="73BFE8"/>
          </a:solidFill>
          <a:ln w="12700">
            <a:solidFill>
              <a:srgbClr val="73BF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0" y="118872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80–100 mil  —  gerência média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874520"/>
            <a:ext cx="2743200" cy="5943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0" y="18745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8.500–12.500  —  níveis sênior + C-level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886200" y="2560320"/>
            <a:ext cx="1371600" cy="5943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25603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Sub-pool  —  decisores de matriz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383280"/>
            <a:ext cx="4160520" cy="13716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Salários executivos no interior — RH 2026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03320"/>
            <a:ext cx="3931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 </a:t>
            </a:r>
            <a:pPr indent="0" marL="0">
              <a:buNone/>
            </a:pPr>
            <a:r>
              <a:rPr lang="en-US" sz="100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R$ 33,7k–86,9k base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CTO/CIO  </a:t>
            </a:r>
            <a:pPr indent="0" marL="0">
              <a:buNone/>
            </a:pPr>
            <a:r>
              <a:rPr lang="en-US" sz="100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R$ 40k–90k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Diretor Crédito/Risco  </a:t>
            </a:r>
            <a:pPr indent="0" marL="0">
              <a:buNone/>
            </a:pPr>
            <a:r>
              <a:rPr lang="en-US" sz="100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R$ 33,5k–50,2k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 </a:t>
            </a:r>
            <a:pPr indent="0" marL="0">
              <a:buNone/>
            </a:pPr>
            <a:r>
              <a:rPr lang="en-US" sz="100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R$ 18k–39,8k</a:t>
            </a:r>
            <a:endParaRPr lang="en-US" sz="1000" dirty="0"/>
          </a:p>
          <a:p>
            <a:pPr indent="0" marL="0">
              <a:buNone/>
            </a:pPr>
            <a:r>
              <a:rPr lang="en-US" sz="9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Interior pratica 80–95% da mediana SP capital + prêmio 5–15% para manufatura/engenharia em Campinas/Sorocaba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3383280"/>
            <a:ext cx="4160520" cy="13716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456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anual potencial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0" y="37033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8–17 mil matrículas/ano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5488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conservadora: 5% do pool contrata MBA a cada 3 anos. Competências que mais elevam salário acima da mediana: IA Generativa e Análise Financeira de Negócios (RH 2026).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57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Pecege: o concorrente competitivo regional mais relevante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pilares observáveis sustentam a posição (CA, 2026; CNE, 2025)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71600"/>
            <a:ext cx="457200" cy="45720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 físico consolidado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Sede no Parque Tecnológico de Piracicaba: 12 mil m², 240 painéis solares, hub com ~20 empresas residentes. Polos: Piracicaba, SP (8.029 seguidores LinkedIn), Cuiabá (Famato).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88720"/>
            <a:ext cx="4160520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371600"/>
            <a:ext cx="457200" cy="45720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394960" y="137160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institucional próprio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00600" y="192024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Faculdade Pecege com Conceito Institucional 4. Bacharelado em Negócios Digitais com CI-EaD 5 (nota máxima). Recredenciamento favorável CNE 2025 (4 anos).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4160520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INOVAÇÃO institucional ascendente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703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do Parque Tecnológico de Piracicaba (Edital 01/2025, dez/2025). University of Nottingham (1ª edição dez/2025). Bayswater College London. Corredor Inovação Agropecuária com Embrapa/APTA (ago/2025).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71800"/>
            <a:ext cx="4160520" cy="36576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3154680"/>
            <a:ext cx="457200" cy="45720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060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94960" y="3154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INVESTIMENTOS sustentados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3703320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80+ cursos ativos; 30 lançamentos em 2024. 50 mil formados acumulados; 60 mil membros. 44.600+ pessoas em eventos 2024; 4.400+ bolsas. Mensalidade R$ 590–597 (3–6× abaixo do ticket FGV).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57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— PECEGE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Pecege: indicadores institucionais e pontos de atenção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Quadro completo do concorrente — CA 2026; CNE 2025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41148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Reputação de mercado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7,3/10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Reclame Aqui — classificação BOM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Reclamações nos últimos 6 meses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61,7%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Índice de recompra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AACSB / EQUIS / AMBA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presença sistemática Folha/Você S/A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18688" y="1188720"/>
            <a:ext cx="274320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18688" y="1188720"/>
            <a:ext cx="2743200" cy="4114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55848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Vínculo com a USP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55848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Indireto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355848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FEALQ e FUSP — fundações de apoio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55848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55848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fundação USP — é parceiro operacional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55848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MBAs USP/ESALQ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55848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coordenados por professores USP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55848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55848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MBX (Pecege fornece operação acadêmica)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355848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Certificado emitido pela USP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71616" y="1188720"/>
            <a:ext cx="274320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71616" y="1188720"/>
            <a:ext cx="2743200" cy="41148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08776" y="118872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Governança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208776" y="1737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anos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208776" y="19933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Daniel Sonoda na liderança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08776" y="230428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Ricardo Shirota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208776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Presidente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08776" y="28712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550+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208776" y="31272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'Pecegers' (equipe operacional)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08776" y="343814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1.700+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08776" y="369417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Professores/orientadores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208776" y="400507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R$ 80–150 mi/ano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208776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Faturamento estimado de mercado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57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Demais concorrentes mapeados no relatório-foco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grupos competitivos a entrar no painel mensal</a:t>
            </a:r>
            <a:endParaRPr lang="en-US" sz="11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194560"/>
                <a:gridCol w="128016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Grupo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Posição relativa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MBA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Ponto de atenção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FDC + Pekatê + SP Vila Olímpia 2024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 e SP-interior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R$ 80–150k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10 FT; family business; novo campus 4.500 m²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Saint Paul + Exame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— finanças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R$ 35–60k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Top of Mind RH 7 anos consecutivos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Insper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Online nacional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R$ 100k+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Acreditação AACSB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IBMEC METROCAMP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 — premium em finanças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R$ 1.500–3.500/mês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Pós-rebrand 2019; consolidação ativa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PUC-Campinas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 regional — IA &amp; Indústria 4.0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R$ 700–1.500/mês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Único regional que aborda IA &amp; Negócios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Mass-market 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Cogna, Estácio, Cruzeiro, UNINTER, UNIP, Uninove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R$ 130–500/mês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Pressão sobre margem do mid-tier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CA, 2026.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57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competitivo por praça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praça apresenta arranjo competitivo distinto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331720" y="1280160"/>
            <a:ext cx="2057400" cy="27432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31720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alta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7373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(Royal Palm)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IBMEC METROCAMP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FDC (Pekatê)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PUC-Campinas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Mackenzie (CIESP)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USF, Anhembi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88720"/>
            <a:ext cx="4160520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88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83680" y="1280160"/>
            <a:ext cx="2057400" cy="27432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2801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Densidade premium nacional baixa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00600" y="173736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FACENS (engenharia, líder local)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UNISO (tradicional)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ESAMC (descontinuou em 2024)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(operação direta)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premium nacionais: presença restrita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4160520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2331720" y="3063240"/>
            <a:ext cx="2057400" cy="27432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33172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regional alta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35204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UniAnchieta (líder R$ 411–500, 70+ anos)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(op. direta abr/2023)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USF, ESAMC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FAAP (campus)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CIESP/IBE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71800"/>
            <a:ext cx="4160520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9718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0" y="3063240"/>
            <a:ext cx="2057400" cy="27432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06324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absoluto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00600" y="3520440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Pecege/USP-ESALQ (domina)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UNIMEP (fragilidade — IGC 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(op. direta abr/2023)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USP Stricto, Unicamp FCA-Limeira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57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saturadas vs lacunas verticais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Onde há comoditização — e onde há janela competitiva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41148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Áreas saturadas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10–25 players  •  alta competição por preço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2011680"/>
            <a:ext cx="54864" cy="36576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Empresarial Geral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468880"/>
            <a:ext cx="54864" cy="36576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Gestão de Projetos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2926080"/>
            <a:ext cx="54864" cy="36576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Finanças/Controladoria genérico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383280"/>
            <a:ext cx="54864" cy="36576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Direito Empresarial / Tributário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" y="3840480"/>
            <a:ext cx="54864" cy="36576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/ Supply Chain genérico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17720" y="1188720"/>
            <a:ext cx="416052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188720"/>
            <a:ext cx="4160520" cy="41148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Lacunas verticais identificadas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754880" y="16916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cobertura competitiva  •  janela 24 meses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011680"/>
            <a:ext cx="54864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20116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aplicada por setor (não IA genérica)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2468880"/>
            <a:ext cx="54864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4688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financeiro / industrial / agro premium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2926080"/>
            <a:ext cx="54864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29260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Operations + governança clínica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3383280"/>
            <a:ext cx="54864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92040" y="33832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Agtech / AgriBusiness Digital fora do Pecege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3840480"/>
            <a:ext cx="54864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92040" y="384048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Business / Sucessão Industrial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57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Pecege a monitorar mensalmente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gatilhos para revisão de premissas — painel mensal à diretoria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80160"/>
            <a:ext cx="411480" cy="41148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801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1887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Acreditação internacional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389120" y="11887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 formal de processo AACSB ou EQUIS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87452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1965960"/>
            <a:ext cx="411480" cy="41148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9659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18745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Polo físico em outras praças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8745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em Campinas, Jundiaí ou Sorocaba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8412480" cy="5943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2651760"/>
            <a:ext cx="411480" cy="41148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6517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25603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internacional regular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89120" y="25603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Nottingham + novos destinos premium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246120"/>
            <a:ext cx="841248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337560"/>
            <a:ext cx="411480" cy="41148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MBAs em verticais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89120" y="32461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ops, family business industrial, ESG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31920"/>
            <a:ext cx="8412480" cy="5943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023360"/>
            <a:ext cx="411480" cy="411480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023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39319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Adensamento Parque Tecnológico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89120" y="3931920"/>
            <a:ext cx="4297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a gestão do Pecege (Edital 01/2025)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6177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Ativação de qualquer sinal → revisão imediata das premissas e ajuste de roadmap. Fonte: CA, 2026; CNE, 2025; este estudo.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57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3A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— SEÇÃO COMPETITIVA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640080" cy="640080"/>
          </a:xfrm>
          <a:prstGeom prst="line">
            <a:avLst/>
          </a:prstGeom>
          <a:noFill/>
          <a:ln w="38100">
            <a:solidFill>
              <a:srgbClr val="FDDB5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914400"/>
            <a:ext cx="-640080" cy="640080"/>
          </a:xfrm>
          <a:prstGeom prst="line">
            <a:avLst/>
          </a:prstGeom>
          <a:noFill/>
          <a:ln w="38100">
            <a:solidFill>
              <a:srgbClr val="FDDB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9144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Pecege é o concorrente competitivo regional mais relevante na percepção da gerência regional FGV, sustentado por quatro pilares — polo, campus, inovação e investimentos.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 lado dele, FDC, Saint Paul, Insper, IBMEC METROCAMP e PUC-Campinas compõem o quadro a ser monitorado em paralelo.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175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lacunas verticais identificadas — IA por setor, healthcare ops, family business industrial, agtech digital fora do Pecege e ESG aplicado — apresentam janela observável de 12–24 meses."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CA, 2026; CNE, 2025; este estudo.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— PESQUISA MARKKA 2023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Pesquisa Markka 2023 — contexto e disclaimer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complementar histórica — uso restrito ao recorte Campinas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75488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754880" cy="3657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Ficha técnica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 </a:t>
            </a:r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Markka Pesquisas, "Relatório Final FGV Campinas", junho/2023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Escopo geográfico:  </a:t>
            </a:r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exclusivamente FGV Campinas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quantitativa: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alunos FGV (75% MBA, 25% pós); 37 ex-alunos; 112 prospects (Unicamp, Mackenzie, PUC-Campinas)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Etapa qualitativa: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entrevistas com alunos; 8 com prospects; 7 com RH parceiro; 7 com RH não parceiro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188720"/>
            <a:ext cx="3474720" cy="352044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Disclaimer metodológico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40680" y="1737360"/>
            <a:ext cx="3200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Data-base junho/2023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anos antes desta análise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relevantes no período: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Encerramento da operação IBE (abril/2023)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Consolidação da operação direta nas 4 praças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Abertura do Royal Palm Hall em 2022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Ciclo de investimentos privados 2024–2026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recomendado:  </a:t>
            </a:r>
            <a:pPr indent="0" marL="0">
              <a:buNone/>
            </a:pPr>
            <a:r>
              <a:rPr lang="en-US" sz="1000" i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referência complementar histórica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57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— HIPÓTESE IBE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IBE: o que a pesquisa de 2023 sustenta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hipótese da gerência tem base — em ex-alunos com financiamento direto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011680" cy="12801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ex-alunos relatam conhecer episódio que prejudicou a imagem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2011680" cy="12801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destes citam o fim da parceria com IBE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188720"/>
            <a:ext cx="2011680" cy="12801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ex-alunos relatam impacto forte sobre a impressão FGV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75120" y="1188720"/>
            <a:ext cx="2011680" cy="12801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0" y="1280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766560" y="18288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menções espontâneas de "IBE" e "Decepção" como 1ª palavra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697480"/>
            <a:ext cx="8412480" cy="17830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697480"/>
            <a:ext cx="73152" cy="178308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achados sobre o episódio IBE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80467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36% dos ex-alunos ficaram muito insatisfeitos com a condução FGV no episódio (Markka, 2023)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concentrado em alunos com financiamento direto via IBE — quem pagou diretamente à FGV não foi afetado (Markka, 2023)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Reclame Aqui revelou reclamações idênticas em 5–6 anos, ampliando a percepção de problema histórico (Markka, 2023)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57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— ALÉM DO IBE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Hipótese IBE: o que ela não explica sozinha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Markka 2023: "O episódio do IBE representa apenas a pontinha do iceberg."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943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"O episódio do IBE representa apenas a pontinha do iceberg."  — Markka, 2023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1627632" cy="10058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920240"/>
            <a:ext cx="1627632" cy="36576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= 12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57200" y="239572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— zona crítica em 2023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1920240"/>
            <a:ext cx="1627632" cy="10058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48256" y="1920240"/>
            <a:ext cx="1627632" cy="36576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39696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= 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139696" y="239572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Ex-alunos FGV em 2023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0752" y="1920240"/>
            <a:ext cx="1627632" cy="10058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30752" y="1920240"/>
            <a:ext cx="1627632" cy="36576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22192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22192" y="239572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Insatisfeitos com a escolha (alunos+ex)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13248" y="1920240"/>
            <a:ext cx="1627632" cy="10058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920240"/>
            <a:ext cx="1627632" cy="36576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504688" y="239572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Pensaram em cancelar matrícula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095744" y="1920240"/>
            <a:ext cx="1627632" cy="10058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95744" y="1920240"/>
            <a:ext cx="1627632" cy="36576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87184" y="2011680"/>
            <a:ext cx="14447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187184" y="2395728"/>
            <a:ext cx="1444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Prospects desconheciam o episódio IBE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3108960"/>
            <a:ext cx="4160520" cy="13716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Outros fatores ativos (independentes do IBE)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34% dos alunos+ex declaram intenção de novo curso na FGV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16% dos prospects pretendem cursar FGV no próximo ano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Apenas 53% dos alunos recomendariam a FGV a amigos/familiares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17720" y="3108960"/>
            <a:ext cx="4160520" cy="137160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3200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Implicação para 2026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352044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98% dos prospects respondentes em 2023 desconheciam o episódio IBE.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Falar publicamente do IBE em 2026 reativa memória que hoje não está ativa em prospects — risco maior que oportunidade.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57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entrevistados afirmam sentir falta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Demandas curriculares e de experiência — base da resposta institucional sugerida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75488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754880" cy="36576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Demandas explicitadas — território a desenvolver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Professores atualizados com prática de mercado (não só titulação)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Conteúdo aprofundado, não superficial — teoria + prática conectadas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Didática moderna que prenda atenção em modalidade online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 organizado — sem atrasos ou troca de plano de aula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práticas associadas à teoria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Aulas presenciais efetivas — turmas que migraram a online não retornaram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 integrados ao currículo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Cursos online com preço mais acessível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303520" y="1188720"/>
            <a:ext cx="3474720" cy="352044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406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preservados na marca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40680" y="17830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44652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total considera a imagem da FGV forte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40680" y="24688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446520" y="25146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ex-alunos concordam que a imagem é forte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40680" y="31546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3200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ex-alunos seguem confiando na FGV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440680" y="384048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46520" y="38862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alunos consideram FGV a + reconhecida no mercado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57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VOZ DO CLIENTE — DIREÇÃO INSTITUCIONAL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Design FGV como direção institucional de resposta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Convergência observável com as demandas Markka 2023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Skill Design FGV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627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Metodologia institucional FGV para mapeamento, desenho e desenvolvimento de competências profissionais aplicada a programas de formação executiva.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103120"/>
            <a:ext cx="2011680" cy="15087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03120"/>
            <a:ext cx="2011680" cy="4572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 integrados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Território explicitamente apontado como "a desenvolver" (Markka, 2023)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103120"/>
            <a:ext cx="2011680" cy="15087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68880" y="2103120"/>
            <a:ext cx="2011680" cy="4572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Modernização da experiência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697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Alinhada à demanda "leveza, tecnologia, conexão" identificada nos prospects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0" y="2103120"/>
            <a:ext cx="2011680" cy="15087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2103120"/>
            <a:ext cx="2011680" cy="4572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Mapeamento de competências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697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Convergente com expectativa "gestão de carreira própria" das gerações Y/Z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2103120"/>
            <a:ext cx="2011680" cy="15087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2103120"/>
            <a:ext cx="2011680" cy="4572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Aplicação prática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12280" y="26974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Convergente com a crítica recorrente de "teoria sem prática"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74904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Implicações para o roadmap (sugestões para discussão)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8412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Replicar a pesquisa de marca em Campinas em 2026 (estimado R$ 80–150 mil) para verificar vigência dos achados Markka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Tratar experiência do aluno como prioridade: coordenação acadêmica dedicada, NPS mid-program, retainer de docentes, revisão de materiais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Comunicar Skill Design FGV nas 4 praças como atributo de modernização verificável — sem reativar a discussão IBE em prospects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57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DE NEGÓCIO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PESTEL Regional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dos vetores macro nas 4 praças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94360" cy="1078992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Político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554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Eleições 2026; Decreto 12.456/2025 (10% presencial em EaD); Brasil Semicon — Lei 14.968/2024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154680" y="1188720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54680" y="1188720"/>
            <a:ext cx="594360" cy="1078992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18872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84048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Econômico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40480" y="1554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R$ 47 bi+ em investimento privado; +13.254 vagas Caged 2025; sucroenergético −43,5% no IBRX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943600" y="1188720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1188720"/>
            <a:ext cx="594360" cy="1078992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188720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29400" y="12801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629400" y="155448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~100 mil em gerência; demanda por upskilling em IA; sucessão em médias indústrias familiares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359152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2359152"/>
            <a:ext cx="594360" cy="1078992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359152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05156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Tecnológico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5156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Semicon; Foxconn-Apple-Nvidia GB200 em Jundiaí; 410 MW de data centers em Campinas; IA generativa transversal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2359152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54680" y="2359152"/>
            <a:ext cx="594360" cy="1078992"/>
          </a:xfrm>
          <a:prstGeom prst="rect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54680" y="2359152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384048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Ambiental (ESG)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84048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em covenant bancário; supplier code Toyota/Foxconn; Ascenty 100% renovável; Koppert biológico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43600" y="2359152"/>
            <a:ext cx="2697480" cy="1078992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359152"/>
            <a:ext cx="594360" cy="1078992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359152"/>
            <a:ext cx="5943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6629400" y="2450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629400" y="272491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LGPD; Decreto 12.456/2025; recredenciamento CNE; Lei 14.968/2024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12.456/2025 — fator regulatório com efeito direcional favorável a instituições com polos físicos consolidados.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57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CINCO FORÇAS DE PORTER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Forças de Porter — Campinas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de maior pressão competitiva da região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FGV, IBMEC, FDC, PUC, Mackenzie, USF, Anhembi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Média-alta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 online disponíveis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fornecedores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5054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denso Unicamp/CPQD/Eldorado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entrantes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Barreiras altas no premium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Média-alta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822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Coursera, edX, mestrado profissional Unicamp, in-company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/ 57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CINCO FORÇAS DE PORTER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Forças de Porter — Sorocaba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densidade premium nacional cria janela curta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Baixa-média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FACENS, UNISO, ESAMC descontinuou; FGV em op. direta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 Toyota/JCB tem alternativa SP capital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fornecedores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Média-baixa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5054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docente menos denso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entrantes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Vácuo atrai entradas — qualquer player premium pode chegar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822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TechMob in-company com Senai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 / 57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CINCO FORÇAS DE PORTER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Forças de Porter — Jundiaí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 principal: SP capital (TIC Intercidades aproxima)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no mid-tier; baixa no premium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UniAnchieta domina mid-tier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 altíssimo + alternativa SP capital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fornecedores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5054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não denso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entrantes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entra fácil; premium difícil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822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 Intercidades aproxima ainda mais — ir para SP capital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 / 57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CINCO FORÇAS DE PORTER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Forças de Porter — Piracicaba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controla rivalidade em volume agro; janela em verticais premium não-agro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Rivalidade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130759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Muito alta no agro/gestão geral; baixa em verticais premium não-agro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663440" y="118872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domina agro/gestão geral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847088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clientes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196596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(Pecege); alta (premium)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663440" y="1847088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Diferentes para diferentes segmentos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505456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505456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Poder dos fornecedores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34640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663440" y="2505456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"captura" parte do pool ESALQ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163824"/>
            <a:ext cx="8412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163824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 entrantes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34640" y="328269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63440" y="316382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volume; média em verticais premium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22192"/>
            <a:ext cx="8412480" cy="566928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22192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34640" y="394106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663440" y="382219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In-company de cooperativas e empresas-âncora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/ 57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SWOT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Campinas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Cruzamento TOWS na conclusão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Forças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Palm Hall — centro próprio (2022)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10 MBAs presenciais + 30+ live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internacionais (Stanford, Columbia, IMD)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FGV TOP 50 FT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Acesso ecossistema Unicamp/CPQD/Eldorado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160520" cy="3657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Oportunidades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Brasil Semicon R$ 24,8 bi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data centers (410 MW)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Saúde (D'Or, Vera Cruz, São Luiz)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 Intercidades cria satélite Jundiaí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Decreto 12.456/2025 favorável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4160520" cy="3657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Fraquezas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 fixo Royal Palm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Verticais regionais menos densos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Gargalo de docentes em verticais novos (IA por setor)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Ameaças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IBMEC METROCAMP rebrand premium em finanças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FDC + Pekatê + Vila Olímpia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PUC-Camp único regional em IA &amp; Indústria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Anhembi Morumbi + Vivo 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internacionaliza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 / 57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SWOT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Sorocaba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assimetria entre oportunidades e fraquezas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Forças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FGV nacional (CA, 2026)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direta consolidada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Histórico in-company com indústria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160520" cy="3657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Oportunidades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Sorocaba 2 inaugura mai/2026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JCB R$ 500 mi — maior aporte LatAm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Eixo R$ 12,5 bi (Toyota+JCB+FUCHS+Valmet)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Caged 2025 +5.534 — maior das 4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Hubiz Conexões (mar/2026)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 densidade de oferta premium nacional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4160520" cy="3657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Fraquezas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Adensamento de portfolio em curso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Visibilidade local em construção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de docentes locais menor que Campinas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Ameaças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FACENS expandindo Six Sigma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Toyota TechMob 4.0 in-company com Senai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EAD comoditiza Gestão Geral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Iveco/CNH em saída e Toyota Indaiatuba desativando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/ 57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SWOT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Jundiaí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Substituto principal: SP capital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Forças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direta desde abr/2023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Proximidade SP + futuro TIC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FGV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160520" cy="3657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Oportunidades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PIB per capita R$ 147,6 mil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Foxconn-Apple-Nvidia GB200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AGCO Reman, Solfácil, BRF, Heineken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Invest+ Jundiaí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4160520" cy="3657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Fraquezas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UniAnchieta incumbente 70+ anos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C-level menor (3,5–4,5 mil)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centro próprio robusto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Ameaças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UniAnchieta R$ 411–500 (preço forte)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FAAP campus em Jundiaí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 Intercidades = substituto SP capital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 / 57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SWOT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SWOT — Piracicaba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Praça mais hostil institucionalmente — flanqueamento por cima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 — Forças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direta desde abr/2023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Marca FGV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Possibilidade de parcerias premium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160520" cy="36576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Oportunidades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00600" y="164592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Hyundai R$ 5,5 bi até 2032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Klabin R$ 1,56 bi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Koppert R$ 700 mi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Raízen Centro de Bioenergia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Cooperativas (Coopercitrus, Coplacana, Cocamar)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UNIMEP em fragilidade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4160520" cy="36576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 — Fraquezas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domina agro 40 anos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 ESALQ no portfólio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C-level pequeno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97180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9718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 — Ameaças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00600" y="342900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absoluto R$ 590–597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governa Parque Tecnológico (dez/2025)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com Nottingham/Bayswater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Rural Summit 2026 transferida (adensa Pecege)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/ 57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ANSOFF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Ansoff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Prioridade: Desenvolvimento de produto em Campinas + Desenvolvimento de mercado em Sorocaba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18872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existentes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212080" y="10058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Mercados novos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37160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existentes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3154680"/>
            <a:ext cx="8229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Produtos</a:t>
            </a:r>
            <a:endParaRPr lang="en-US" sz="1100" dirty="0"/>
          </a:p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1371600"/>
            <a:ext cx="39319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88720" y="1371600"/>
            <a:ext cx="3931920" cy="54864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2588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Penetração de mercado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18745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Defender Campinas com presencialidade + ranking + módulo internacional. Captar 2–5 pp de share no mid-premium.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212080" y="1371600"/>
            <a:ext cx="3931920" cy="1691640"/>
          </a:xfrm>
          <a:prstGeom prst="rect">
            <a:avLst/>
          </a:prstGeom>
          <a:solidFill>
            <a:srgbClr val="73BFE8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1371600"/>
            <a:ext cx="3931920" cy="54864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1508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mercado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49240" y="187452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Levar portfolio FGV existente a Sorocaba via operação direta (mesmo MBA, nova praça).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188720" y="3154680"/>
            <a:ext cx="3931920" cy="1691640"/>
          </a:xfrm>
          <a:prstGeom prst="rect">
            <a:avLst/>
          </a:prstGeom>
          <a:solidFill>
            <a:srgbClr val="008BC9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3154680"/>
            <a:ext cx="3931920" cy="54864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2588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Desenvolvimento de produto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657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MBAs verticais IA &amp; [setor] em Campinas; Family Business Industrial em Jundiaí/Sorocaba; Transição Energética em Piracicaba.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212080" y="3154680"/>
            <a:ext cx="39319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212080" y="3154680"/>
            <a:ext cx="3931920" cy="54864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4924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Diversificação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49240" y="36576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C-Level Agro Premium (rede FT) atacando AgroCEO Pecege em Piracicaba. ESG financeiro/industrial.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 / 57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BCG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BCG do portfólio recomendado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Investir em estrelas e interrogações; manter vacas leiteiras; reposicionar abacaxis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594360" cy="169164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5156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Estrelas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crescimento + alto share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43000" y="1828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em Saúde (Campinas)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MBAs IA &amp; [Indústria/Saúde/Varejo] (a lançar)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17720" y="1188720"/>
            <a:ext cx="594360" cy="169164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118872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❓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5303520" y="128016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Interrogações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303520" y="157276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alto crescimento + baixo share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394960" y="182880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Business Industrial 4.0 (a lançar)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Transição Energética &amp; Bioeconomia (Piracicaba)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Manufatura Avançada &amp; Eletromobilidade (Sorocaba)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71800"/>
            <a:ext cx="594360" cy="169164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97180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🐄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1051560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Vacas leiteiras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3355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crescimento + alto share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" y="36118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Cooperativas de Crédito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Finanças core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17720" y="2971800"/>
            <a:ext cx="594360" cy="1691640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17720" y="2971800"/>
            <a:ext cx="5943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5303520" y="30632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03520" y="3355848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baixo crescimento + baixo share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394960" y="3611880"/>
            <a:ext cx="3291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 Gestão de Pessoas mid-tier genérico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MBAs em áreas de comoditização — diferenciar radicalmente ou redirecionar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 / 57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FRAMEWORKS — GE/MCKINSEY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GE/McKinsey por praça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Atratividade × Força competitiva — alocação de investimento por quadrante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 rot="16200000">
            <a:off x="411480" y="1417320"/>
            <a:ext cx="457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Atratividade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452628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Força competitiva →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143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154680" y="1143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143000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141732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42316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42900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1417320"/>
            <a:ext cx="1737360" cy="960120"/>
          </a:xfrm>
          <a:prstGeom prst="rect">
            <a:avLst/>
          </a:prstGeom>
          <a:solidFill>
            <a:srgbClr val="D7D9DD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417320"/>
            <a:ext cx="1737360" cy="960120"/>
          </a:xfrm>
          <a:prstGeom prst="rect">
            <a:avLst/>
          </a:prstGeom>
          <a:solidFill>
            <a:srgbClr val="008BC9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5468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5468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Investir seletivamente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937760" y="1417320"/>
            <a:ext cx="1737360" cy="960120"/>
          </a:xfrm>
          <a:prstGeom prst="rect">
            <a:avLst/>
          </a:prstGeom>
          <a:solidFill>
            <a:srgbClr val="003A79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5087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185623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Investir / crescer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371600" y="2423160"/>
            <a:ext cx="1737360" cy="960120"/>
          </a:xfrm>
          <a:prstGeom prst="rect">
            <a:avLst/>
          </a:prstGeom>
          <a:solidFill>
            <a:srgbClr val="E29200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7160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Construir ou colher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154680" y="2423160"/>
            <a:ext cx="1737360" cy="960120"/>
          </a:xfrm>
          <a:prstGeom prst="rect">
            <a:avLst/>
          </a:prstGeom>
          <a:solidFill>
            <a:srgbClr val="FDDB5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54680" y="25146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54680" y="28620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/ colher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937760" y="2423160"/>
            <a:ext cx="1737360" cy="960120"/>
          </a:xfrm>
          <a:prstGeom prst="rect">
            <a:avLst/>
          </a:prstGeom>
          <a:solidFill>
            <a:srgbClr val="D7D9DD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371600" y="3429000"/>
            <a:ext cx="1737360" cy="960120"/>
          </a:xfrm>
          <a:prstGeom prst="rect">
            <a:avLst/>
          </a:prstGeom>
          <a:solidFill>
            <a:srgbClr val="D7D9DD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154680" y="3429000"/>
            <a:ext cx="1737360" cy="960120"/>
          </a:xfrm>
          <a:prstGeom prst="rect">
            <a:avLst/>
          </a:prstGeom>
          <a:solidFill>
            <a:srgbClr val="D7D9DD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429000"/>
            <a:ext cx="1737360" cy="960120"/>
          </a:xfrm>
          <a:prstGeom prst="rect">
            <a:avLst/>
          </a:prstGeom>
          <a:solidFill>
            <a:srgbClr val="D7D9DD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949440" y="1188720"/>
            <a:ext cx="182880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40880" y="1280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estratégica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645920"/>
            <a:ext cx="54864" cy="6400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64592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178040" y="18745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Dobrar a aposta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7040880" y="2377440"/>
            <a:ext cx="54864" cy="6400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237744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178040" y="2606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Investir em capacidade (operação direta)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40880" y="3108960"/>
            <a:ext cx="54864" cy="64008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310896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17804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curtos / satélite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040880" y="3840480"/>
            <a:ext cx="54864" cy="64008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78040" y="3840480"/>
            <a:ext cx="1600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178040" y="4069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Nichos premium ou abandonar volume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/ 57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DE MARKETING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por praça — visão consolidada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estratégias diferenciadas por praça</a:t>
            </a:r>
            <a:endParaRPr lang="en-US" sz="11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828800"/>
                <a:gridCol w="1828800"/>
                <a:gridCol w="1783080"/>
                <a:gridCol w="17830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Jundiaí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Sorocaba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Piracicaba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Praça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Royal Palm + polo HIDS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Satélite Camp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Centro próprio novo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Pequeno + B2B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Verticais IA + Saúde + Coop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Curtos in-company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Manufatura/eletromob.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Transição energética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Preço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R$ 2.500–3.200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R$ 2.500–3.300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R$ 2.000–2.600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R$ 2.300–2.900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Promoção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+ PR + eventos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+ B2B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+ PR + B2B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+ parceiros corporativos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Pessoas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 sênior + docentes IA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 compartilhado Camp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 dedicado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Coord. dedicado + parcerias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+ B2C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foco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+ B2C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B2B foco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 / 57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PRAÇA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Praça (canais físicos)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grande movimento físico é Sorocaba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6858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1371600" cy="6858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74520" y="128016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Royal Palm Hall + polo HIDS/Unicamp para verticais 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92240" y="128016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R$ 1–2 mi/ano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057400"/>
            <a:ext cx="8412480" cy="6858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057400"/>
            <a:ext cx="1371600" cy="68580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05740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74520" y="205740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Satélite Campinas — sem expansão de centro próprio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05740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Otimização (manter)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834640"/>
            <a:ext cx="8412480" cy="6858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834640"/>
            <a:ext cx="1371600" cy="68580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83464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283464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Operação direta + centro próprio novo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R$ 5–8 mi capex; R$ 3–5 mi/ano opex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611880"/>
            <a:ext cx="8412480" cy="6858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611880"/>
            <a:ext cx="1371600" cy="68580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6118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874520" y="3611880"/>
            <a:ext cx="4526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+ reforçar B2B in-company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92240" y="36118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R$ 0,5–1 mi/ano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estimado Sorocaba: 30–42 meses dependendo de capex. Os outros são otimização.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 / 57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PRODUTO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Produto — linha recomendada 2026–2028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lançamentos novos. Dois flagships defendidos. Trocar genérico por verticais aplicadas.</a:t>
            </a:r>
            <a:endParaRPr lang="en-US" sz="11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1828800"/>
                <a:gridCol w="1828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Praça primária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Saúde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Existente — expandir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Coop. Crédito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 + Pira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IA &amp; Indústria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IA &amp; Saúde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IA &amp; Varejo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Manufatura Avançada &amp; Eletromobilidade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Sorocaba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2026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Transição Energética &amp; Bioeconomia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Piracicaba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8BC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Business Industrial 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Jundiaí + Sorocaba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Lançamento 2027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Defender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Finanças core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 + Jund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Existente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Reposicionar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20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RH genérico mid-tier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Diferenciar com vertical aplicada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 / 57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PREÇO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Preço — onde estamos no mercado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no premium nacional. Pecege isolado em "volume + chancela USP".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420624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103120" cy="420624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internacional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06040" y="11887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Insper, FDC, Saint Paul MBA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080760" y="11887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R$ 35–150k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60920" y="11887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1691640"/>
            <a:ext cx="2103120" cy="420624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69164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nacional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169164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FGV, IBMEC METROCAMP, FAAP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080760" y="16916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R$ 35–80k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60920" y="169164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R$ 1.500–3.500/mês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194560"/>
            <a:ext cx="8412480" cy="420624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194560"/>
            <a:ext cx="2103120" cy="420624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19456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regional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06040" y="219456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PUC-Camp, Mackenzie, FACENS, USF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080760" y="219456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R$ 15–55k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60920" y="219456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R$ 700–2.800/mês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2697480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697480"/>
            <a:ext cx="2103120" cy="420624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6974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2D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regional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06040" y="269748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UNIMEP, UNISO, UniAnchieta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080760" y="269748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R$ 8–18k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60920" y="269748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R$ 411–775/mês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3200400"/>
            <a:ext cx="8412480" cy="420624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200400"/>
            <a:ext cx="2103120" cy="420624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32004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Volume + chancela USP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320040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080760" y="320040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R$ 10–13k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60920" y="320040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R$ 590–597/mês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703320"/>
            <a:ext cx="84124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65760" y="3703320"/>
            <a:ext cx="2103120" cy="420624"/>
          </a:xfrm>
          <a:prstGeom prst="rect">
            <a:avLst/>
          </a:prstGeom>
          <a:solidFill>
            <a:srgbClr val="88868B"/>
          </a:solidFill>
          <a:ln w="12700">
            <a:solidFill>
              <a:srgbClr val="88868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7033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EAD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06040" y="3703320"/>
            <a:ext cx="3383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Cogna, Estácio, Cruzeiro, UNINTER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6080760" y="370332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R$ 3–10k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3703320"/>
            <a:ext cx="1371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R$ 130–500/mês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i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diferença de ticket — 3 a 5× — paga 5 atributos: chancela TOP 50 FT, presencial real, módulo internacional, parceiro corporativo nominal, rede C-level.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 / 57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PROMOÇÃO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Promoção — direção de mensagem por praça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Mensagem específica ancorada em vetor setorial e empresa-âncora local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Campinas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24028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 / saúde / data centers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7830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Verticais aplicadas (IA por setor, healthcare ops, finanças avançadas) + atributos institucionais verificáveis (FT, Royal Palm, módulo internacional)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188720"/>
            <a:ext cx="4160520" cy="45720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1887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Sorocaba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92240" y="12801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Manufatura avançada / eletromobilidade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78308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Cadeia Toyota Sorocaba 2, JCB e Embraer — manufatura avançada, eletromobilidade e Lean Six Sigma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971800"/>
            <a:ext cx="4160520" cy="45720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Jundiaí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24028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Logística / eletrônicos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Programas curtos premium e in-company para executivos de Foxconn-Apple-Nvidia, AGCO, Heineken, Solfácil, BRF, Tupy/MWM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2971800"/>
            <a:ext cx="4160520" cy="16916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971800"/>
            <a:ext cx="4160520" cy="457200"/>
          </a:xfrm>
          <a:prstGeom prst="rect">
            <a:avLst/>
          </a:prstGeom>
          <a:solidFill>
            <a:srgbClr val="3BAE96"/>
          </a:solidFill>
          <a:ln w="12700">
            <a:solidFill>
              <a:srgbClr val="3BAE9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71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Piracicaba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92240" y="30632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Bioeconomia / transição energética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00600" y="3566160"/>
            <a:ext cx="3794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Parcerias formais com Hyundai, Raízen, Klabin, Koppert e cooperativas (Coopercitrus, Coplacana, Cocamar)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/ 57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MIX DE CANAIS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de canais por praça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é prioridade nas três praças industriais — Jundiaí, Sorocaba, Piracicaba</a:t>
            </a:r>
            <a:endParaRPr lang="en-US" sz="1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188720"/>
                <a:gridCol w="1188720"/>
                <a:gridCol w="118872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LinkedIn Ads (gerência sênior)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institucionais (CIESP, Senai)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Parceria corporativa (B2B)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SEO/SEM "MBA + cidade"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EB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 / mídia regional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Eventos próprios (FGV Talks)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Baixo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FAEB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Indicação / embaixadores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AE9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2D4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Médio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DB51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/ 57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6PS — PESSOAS + PROCESSOS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 + Processos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Estrutura, capacitação docente e rituais de venda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41148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Pessoas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coordenador sênior por praça (Sorocaba e Piracicaba dedicados; Camp/Jund pode compartilhar)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Retainer de 12–24 meses com docentes-chave em verticais novas (IA por setor, eletromobilidade, bioeconomia)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Parceria com institutos (CPQD, Eldorado, Embrapa, IAC) para "docentes emprestados" sem competir em pós lato sensu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 de embaixadores: alumni C-level que indicam matrículas (KPI: % matrículas via indicação ≥ 25%)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17720" y="1188720"/>
            <a:ext cx="416052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188720"/>
            <a:ext cx="4160520" cy="4114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B2B: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→ qualificação → diagnóstico → proposta → fechamento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90–120 dias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Funil B2C: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→ qualificação → entrevista coordenador → matrícula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Ciclo: 30–60 dias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Rituais: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mid-program; revisão semestral de docentes; pesquisa anual de marca por praça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 / 57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PREÇO-DEMANDA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Elasticidade-preço — conceitos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Estimativas analíticas por segmento (literatura aplicada)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777240"/>
          </a:xfrm>
          <a:prstGeom prst="rect">
            <a:avLst/>
          </a:prstGeom>
          <a:solidFill>
            <a:srgbClr val="002D4D"/>
          </a:solidFill>
          <a:ln w="12700">
            <a:solidFill>
              <a:srgbClr val="002D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83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 = </a:t>
            </a:r>
            <a:pPr indent="0" marL="0">
              <a:buNone/>
            </a:pPr>
            <a:r>
              <a:rPr lang="en-US" sz="16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(% Δ Quantidade) / (% Δ Preço)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</a:t>
            </a:r>
            <a:pPr indent="0" marL="0">
              <a:buNone/>
            </a:pPr>
            <a:r>
              <a:rPr lang="en-US" sz="13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|Ed| &gt; 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elástica  ·  </a:t>
            </a:r>
            <a:pPr indent="0" marL="0">
              <a:buNone/>
            </a:pPr>
            <a:r>
              <a:rPr lang="en-US" sz="13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|Ed| &lt; 1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inelástica</a:t>
            </a:r>
            <a:endParaRPr lang="en-US" sz="16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03120"/>
          <a:ext cx="841248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554480"/>
                <a:gridCol w="3657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 estimado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premium B2C presencial — Campinas / Sorocaba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 a -0,8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Inelástico — admite ajuste positivo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premium B2C live multi-praça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-0,8 a -1,0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Próximo ao unitário — neutro a aumentos pequenos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In-company / B2B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-0,3 a -0,6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Mais inelástico — lógica corporativa de valor de impacto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Mid-tier regional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-1,0 a -1,5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Elástico — competição por preço já existente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Mass-market 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 a -2,5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Muito elástico — competição por preço dominante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5262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Nota metodológica: </a:t>
            </a:r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estimativas baseadas em literatura aplicada a serviços educacionais — este estudo, 2026. Sem teste empírico no mercado FGV. Validação recomendada via piloto split-test em 2 turmas teste em 2026.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 / 57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— CENÁRIOS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Cenários ±5/10/15/20% — premium presencial FGV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Base: ticket R$ 2.500/mês · 100 matrículas · Ed = -0,7</a:t>
            </a:r>
            <a:endParaRPr lang="en-US" sz="11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1463040"/>
                <a:gridCol w="1371600"/>
                <a:gridCol w="1463040"/>
                <a:gridCol w="2103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Cenário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Preço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Novo ticket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 Demanda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Nova demanda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Receita relativa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R$ 2.875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R$ 2.750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R$ 2.625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FF1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R$ 2.500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3BFE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R$ 2.375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R$ 2.250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110,5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R$ 2.000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-8,8%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analítica: </a:t>
            </a:r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sob hipótese Ed = -0,7, variações positivas até +15% aumentam receita; reduções lineares de preço no segmento premium tendem a contrair receita </a:t>
            </a:r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</a:t>
            </a:r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margem simultaneamente, em razão de menor diluição de custo fixo.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 / 57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— CRUZADA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Sensibilidade cruzada com concorrentes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Elasticidade-preço cruzada (Ec) — substitutos diretos do MBA premium FGV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= </a:t>
            </a:r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Δ demanda FGV / % Δ preço concorrente   ·   </a:t>
            </a:r>
            <a:pPr indent="0" marL="0">
              <a:buNone/>
            </a:pPr>
            <a:r>
              <a:rPr lang="en-US" sz="11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 &gt; 0</a:t>
            </a:r>
            <a:pPr indent="0" marL="0">
              <a:buNone/>
            </a:pPr>
            <a:r>
              <a:rPr lang="en-US" sz="11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indica produtos substitutos. Quanto maior, maior a substituibilidade.</a:t>
            </a:r>
            <a:endParaRPr lang="en-US" sz="1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4124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Concorrente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 estimado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Leitura competitiva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IBMEC METROCAMP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 a +0,9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Substituto premium em finanças, em consolidação pós-rebranding 2019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FDC (Pekatê + Vila Olímpia)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 a +0,8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Substituto premium em executivo sênior e family business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PUC-Campinas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9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+0,4 a +0,7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Substituto regional em IA &amp; Indústria 4.0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Saint Paul / Exame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29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 a +0,6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Substituto parcial — modalidade online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FACENS (Sorocaba)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DDB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 a +0,4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Substituto regional mid-tier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Pecege / USP-ESALQ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 a +0,3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Substituibilidade direta baixa em razão da diferença reputacional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UniAnchieta (Jundiaí)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 a +0,3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Mid-tier — substituibilidade limitada ao premium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Mass-market EAD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+0,05 a +0,15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Atendem perfis de cliente distintos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Síntese: </a:t>
            </a:r>
            <a:pPr indent="0" marL="0">
              <a:buNone/>
            </a:pPr>
            <a:r>
              <a:rPr lang="en-US" sz="10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demanda premium FGV é mais sensível a movimentos de IBMEC METROCAMP e FDC que do Pecege — referências mais relevantes para decisões de pricing premium.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 / 57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— PONTOS ÓTIMOS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ótimos por segmento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de movimento de preço por produto, 2026-2028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 de receita máxima (onde |Ed| = 1):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508760"/>
            <a:ext cx="2697480" cy="777240"/>
          </a:xfrm>
          <a:prstGeom prst="rect">
            <a:avLst/>
          </a:prstGeom>
          <a:solidFill>
            <a:srgbClr val="EFEFF1"/>
          </a:solidFill>
          <a:ln w="1905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presencial FGV  </a:t>
            </a:r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 = -0,7)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+20-25%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508760"/>
            <a:ext cx="2697480" cy="777240"/>
          </a:xfrm>
          <a:prstGeom prst="rect">
            <a:avLst/>
          </a:prstGeom>
          <a:solidFill>
            <a:srgbClr val="EFEFF1"/>
          </a:solidFill>
          <a:ln w="19050">
            <a:solidFill>
              <a:srgbClr val="8886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508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Mid-tier  </a:t>
            </a:r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 ≈ -1,2)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atual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508760"/>
            <a:ext cx="2697480" cy="777240"/>
          </a:xfrm>
          <a:prstGeom prst="rect">
            <a:avLst/>
          </a:prstGeom>
          <a:solidFill>
            <a:srgbClr val="EFEFF1"/>
          </a:solidFill>
          <a:ln w="19050">
            <a:solidFill>
              <a:srgbClr val="008B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50876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in-company  </a:t>
            </a:r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(Ed = -0,4)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+30-40%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423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Recomendação por produto (2026-2028):</a:t>
            </a:r>
            <a:endParaRPr lang="en-US" sz="11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4389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Movimento de preço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Saúde — 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+10-15% em 2027 (consolidado, lacuna premium)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Coop. de Crédito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8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em Finanças 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+5-8% em 2026 (defesa contra IBMEC)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MBAs IA por setor (lançamento)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pleno desde lançamento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Manufatura Avançada — Sorocaba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pleno 2026 (janela Toyota 2)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Transição Energética — Piracicaba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pleno 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Family Business Industrial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Ticket alto desde lançamento (FDC ref. R$ 80-150k)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88868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MBA RH genérico mid-tier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9B0A5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Diferenciar com vertical aplicada — não competir em preço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/ 57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ELASTICIDADE — RISCOS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mover preço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Subir, descer e contraindicações observáveis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45720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subir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783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de "perda de competitividade" se mal comunicado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reputacional se ranking FT cair (impacto direto no ticket)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 contratual em parcerias B2B (cláusulas de revisão)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1188720"/>
            <a:ext cx="269748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1188720"/>
            <a:ext cx="2697480" cy="45720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Riscos de descer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1783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Sinal de "FGV virou regional" / dilução de marca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Atração de público errado (cliente preço vs cliente valor)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Movimento difícil de reverter institucionalmente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697480" cy="352044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35040" y="1188720"/>
            <a:ext cx="2697480" cy="457200"/>
          </a:xfrm>
          <a:prstGeom prst="rect">
            <a:avLst/>
          </a:prstGeom>
          <a:solidFill>
            <a:srgbClr val="002D4D"/>
          </a:solidFill>
          <a:ln w="12700">
            <a:solidFill>
              <a:srgbClr val="002D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11887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Contraindicações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2200" y="1783080"/>
            <a:ext cx="2423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descer preço onde já há vantagem distintiva (Saúde, Coop.)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subir preço em lançamentos sem prova de mercado (Ed mais alta no início)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usar desconto promocional acima de ~10% em produtos novos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57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&amp; RISCOS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de 9 ameaças competitivas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 × Impacto observados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124358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como concorrente regional consolidado — polo, campus, inovação, investimentos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9B0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Alta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91840" y="1280160"/>
            <a:ext cx="365760" cy="365760"/>
          </a:xfrm>
          <a:prstGeom prst="ellipse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49040" y="124358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FDC + Pekatê + novo campus Vila Olímpia 2024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9B0A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Alta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80160"/>
            <a:ext cx="365760" cy="365760"/>
          </a:xfrm>
          <a:prstGeom prst="ellipse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124358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 + Exame online — finanças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126480" y="190195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Médio-Alto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228600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377440"/>
            <a:ext cx="365760" cy="365760"/>
          </a:xfrm>
          <a:prstGeom prst="ellipse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4400" y="234086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IBMEC METROCAMP em consolidação pós-rebranding 2019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5720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Média-Alta / Médio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28600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91840" y="2377440"/>
            <a:ext cx="365760" cy="365760"/>
          </a:xfrm>
          <a:prstGeom prst="ellipse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749040" y="234086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PUC-Campinas em IA &amp; Indústria 4.0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29184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/ Médio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035040" y="228600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2377440"/>
            <a:ext cx="365760" cy="365760"/>
          </a:xfrm>
          <a:prstGeom prst="ellipse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26480" y="2377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583680" y="234086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EAD comoditizando o mid-tier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126480" y="299923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Médio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338328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3474720"/>
            <a:ext cx="365760" cy="365760"/>
          </a:xfrm>
          <a:prstGeom prst="ellipse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" y="343814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Decreto 12.456/2025 — fator regulatório dual-use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57200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89A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Direcional favorável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200400" y="338328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91840" y="3474720"/>
            <a:ext cx="365760" cy="365760"/>
          </a:xfrm>
          <a:prstGeom prst="ellipse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918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3749040" y="343814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Concorrência por talento docente especialista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91840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/ Médio-Alto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035040" y="3383280"/>
            <a:ext cx="2697480" cy="1005840"/>
          </a:xfrm>
          <a:prstGeom prst="rect">
            <a:avLst/>
          </a:prstGeom>
          <a:solidFill>
            <a:srgbClr val="EFEFF1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3474720"/>
            <a:ext cx="365760" cy="365760"/>
          </a:xfrm>
          <a:prstGeom prst="ellipse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2648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583680" y="3438144"/>
            <a:ext cx="2057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Substituição por in-company corporativo próprio (Toyota TechMob, Foxconn academy)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126480" y="4096512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i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/ Alto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65760" y="46360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prioritário: </a:t>
            </a:r>
            <a:pPr indent="0" marL="0">
              <a:buNone/>
            </a:pPr>
            <a:r>
              <a:rPr lang="en-US" sz="10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1 e 2 (alta probabilidade × alto impacto) — Pecege e FDC. Demais 7 fatores compõem monitoramento secundário.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 / 57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— PROB. × IMPACTO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Matriz Probabilidade × Impacto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Quadrante alta-alta concentra Pecege e FDC + Vila Olímpia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 rot="16200000">
            <a:off x="182880" y="260604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Probabilidade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baixo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74904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médio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1051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 alto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3716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33832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Baixa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371600" y="1371600"/>
            <a:ext cx="2377440" cy="1005840"/>
          </a:xfrm>
          <a:prstGeom prst="rect">
            <a:avLst/>
          </a:prstGeom>
          <a:solidFill>
            <a:srgbClr val="89A95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732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 Decreto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12.456/2025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(efeito favorável)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749040" y="1371600"/>
            <a:ext cx="2377440" cy="1005840"/>
          </a:xfrm>
          <a:prstGeom prst="rect">
            <a:avLst/>
          </a:prstGeom>
          <a:solidFill>
            <a:srgbClr val="FDDB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9476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Mass-market EAD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PUC-Campinas IA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Talento docente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126480" y="1371600"/>
            <a:ext cx="2377440" cy="1005840"/>
          </a:xfrm>
          <a:prstGeom prst="rect">
            <a:avLst/>
          </a:prstGeom>
          <a:solidFill>
            <a:srgbClr val="9B0A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FDC + Pekatê +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Vila Olímpia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371600" y="2377440"/>
            <a:ext cx="2377440" cy="1005840"/>
          </a:xfrm>
          <a:prstGeom prst="rect">
            <a:avLst/>
          </a:prstGeom>
          <a:solidFill>
            <a:srgbClr val="EFEF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41732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49040" y="2377440"/>
            <a:ext cx="2377440" cy="1005840"/>
          </a:xfrm>
          <a:prstGeom prst="rect">
            <a:avLst/>
          </a:prstGeom>
          <a:solidFill>
            <a:srgbClr val="FDDB5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IBMEC METROCAMP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In-company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126480" y="2377440"/>
            <a:ext cx="2377440" cy="1005840"/>
          </a:xfrm>
          <a:prstGeom prst="rect">
            <a:avLst/>
          </a:prstGeom>
          <a:solidFill>
            <a:srgbClr val="E292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237744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Saint Paul + Exame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(Campinas)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71600" y="3383280"/>
            <a:ext cx="2377440" cy="1005840"/>
          </a:xfrm>
          <a:prstGeom prst="rect">
            <a:avLst/>
          </a:prstGeom>
          <a:solidFill>
            <a:srgbClr val="EFEF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1732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749040" y="3383280"/>
            <a:ext cx="2377440" cy="1005840"/>
          </a:xfrm>
          <a:prstGeom prst="rect">
            <a:avLst/>
          </a:prstGeom>
          <a:solidFill>
            <a:srgbClr val="EFEF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9476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3383280"/>
            <a:ext cx="2377440" cy="1005840"/>
          </a:xfrm>
          <a:prstGeom prst="rect">
            <a:avLst/>
          </a:prstGeom>
          <a:solidFill>
            <a:srgbClr val="EFEFF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38328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71600" y="4434840"/>
            <a:ext cx="7132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4636008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Foco prioritário (alta-alta): </a:t>
            </a:r>
            <a:pPr indent="0" marL="0">
              <a:buNone/>
            </a:pPr>
            <a:r>
              <a:rPr lang="en-US" sz="10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Pecege e FDC + Pekatê + Vila Olímpia. Mitigações detalhadas no próximo slide.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/ 57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— MITIGAÇÕES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Mitigações principais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 institucional por fator de risco competitivo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160520" cy="2103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relação a Pecege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" y="1645920"/>
            <a:ext cx="3977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Aprofundar diferenciação institucional (rankings FT, acreditações internacionais aplicáveis)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parcerias corporativas formais (Hyundai, D'Or, Toyota, Klabin, Koppert)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atributos verificáveis: presencialidade física, módulo internacional in loco, corpo docente pesquisador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Monitorar mensalmente os 4 pilares Pecege com indicadores objetivos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416052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3337560"/>
            <a:ext cx="4160520" cy="36576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relação a FDC + Pekatê + Vila Olímpia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79476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Estruturar Family Business Industrial 4.0 em janela compatível com expansão FDC regional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e ampliar MBA em Saúde Campinas como flagship (lacuna premium identificada)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Comunicar "presencialidade em sua cidade" como atributo verificável vs deslocamento para SP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17720" y="1188720"/>
            <a:ext cx="4160520" cy="1417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7720" y="1188720"/>
            <a:ext cx="4160520" cy="36576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9160" y="11887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relação a Saint Paul + Exame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27448" y="16459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Manter MBA em Finanças core com diferencial de rede sênior presencial + módulo internacional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Ampliar verticais que Saint Paul não cobre (saúde, IA por setor, agro premium)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2651760"/>
            <a:ext cx="4160520" cy="960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17720" y="2651760"/>
            <a:ext cx="4160520" cy="36576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6517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relação a IBMEC METROCAMP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27448" y="3108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de MBAs verticais em IA por setor — janela de produto observada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617720" y="3657600"/>
            <a:ext cx="4160520" cy="109728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17720" y="3657600"/>
            <a:ext cx="4160520" cy="36576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65760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relação a Mass-market 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27448" y="4114800"/>
            <a:ext cx="3977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Reposicionamento ou descontinuação em áreas de alta saturação competitiva — em vez de competição por preço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/ 57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AMEAÇAS — SINAIS DE ALARME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Sinais de alarme a monitorar mensalmente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Termômetro: vermelho exige ação imediata; amarelo, revisão trimestral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97480" cy="3703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97480" cy="548640"/>
          </a:xfrm>
          <a:prstGeom prst="rect">
            <a:avLst/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 Reavaliação imediata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Premissas do estudo viram "em revisão"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 formal de processo de acreditação internacional AACSB ou EQUIS pelo Pecege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unidade física por IBMEC ou FDC em Sorocaba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Contratação in-company exclusiva da Toyota com FACENS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188720"/>
            <a:ext cx="2697480" cy="3703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88720"/>
            <a:ext cx="2697480" cy="548640"/>
          </a:xfrm>
          <a:prstGeom prst="rect">
            <a:avLst/>
          </a:prstGeom>
          <a:solidFill>
            <a:srgbClr val="E29200"/>
          </a:solidFill>
          <a:ln w="12700">
            <a:solidFill>
              <a:srgbClr val="E29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 Revisão trimestral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Revisar premissas no próximo ciclo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21488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polo físico do Pecege em Campinas, Jundiaí ou Sorocaba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Abertura de unidade física da Saint Paul em Campinas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Lançamento pela PUC-Campinas de MBA em IA &amp; Setor com parceiro corporativo nominal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Consolidação pelo Pecege de programa internacional regular além de Nottingham/Bayswater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97480" cy="37033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97480" cy="548640"/>
          </a:xfrm>
          <a:prstGeom prst="rect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18872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 Monitoramento contínuo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Rastrear sem mexer ainda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172200" y="2148840"/>
            <a:ext cx="2423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Anúncios setoriais que afetem demanda (Toyota Sorocaba 2, Hyundai, Koppert, Foxconn)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Mudanças regulatórias adicionais ao BR Decreto 12.456/2025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 / 57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LINHAS DE 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Cinco linhas de ação para discussão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R$ 11–19 mi · Receita projetada R$ 25–35 mi em 36 meses</a:t>
            </a:r>
            <a:endParaRPr lang="en-US" sz="1100" dirty="0"/>
          </a:p>
        </p:txBody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841248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3520440"/>
                <a:gridCol w="1188720"/>
                <a:gridCol w="1280160"/>
                <a:gridCol w="1097280"/>
                <a:gridCol w="9144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Linha de ação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Praça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Janela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Investimento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A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Adensar Campinas com 3 MBAs verticais em IA por setor + expansão healthcare ops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Campinas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Q3/2026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R$ 3-5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12-18 meses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Consolidar e adensar operação em Sorocaba + lançamento MBA Manufatura Avançada &amp; Eletromobilidade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Sorocaba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até Q2/2027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R$ 5-9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E292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24-36 meses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Explorar Piracicaba via parcerias corporativas (Hyundai, Raízen, Klabin, Koppert, cooperativas)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Piracicaba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Q4/2026 a Q4/2027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R$ 1-2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18-24 meses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Estruturar oferta Family Business Industrial 4.0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Jund + Sor + Pir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Q1/2027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R$ 1-2 mi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i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18-24 meses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Manter e ampliar verticais distintivas FGV — Saúde + Cooperativas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8BC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Camp + Pira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C5B5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Contínuo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3A79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R$ 0,5-1 mi/ano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i="1" dirty="0">
                          <a:solidFill>
                            <a:srgbClr val="89A95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imediato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9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65760" y="4160520"/>
            <a:ext cx="8412480" cy="59436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4160520"/>
            <a:ext cx="8183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</a:t>
            </a:r>
            <a:pPr algn="ctr" indent="0" marL="0">
              <a:buNone/>
            </a:pPr>
            <a:r>
              <a:rPr lang="en-US" sz="13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R$ 11–19 mi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em 18 meses   ·   Receita projetada: </a:t>
            </a:r>
            <a:pPr algn="ctr" indent="0" marL="0">
              <a:buNone/>
            </a:pPr>
            <a:r>
              <a:rPr lang="en-US" sz="13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R$ 13–15 mi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/18m   ·   </a:t>
            </a:r>
            <a:pPr algn="ctr" indent="0" marL="0">
              <a:buNone/>
            </a:pPr>
            <a:r>
              <a:rPr lang="en-US" sz="1300" b="1" dirty="0">
                <a:solidFill>
                  <a:srgbClr val="FDDB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R$ 25–35 mi</a:t>
            </a:r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/36m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 / 57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TIMELINE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Sequenciamento das 5 linhas de 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Janela de 24 meses · pico de execução em Q1/2027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01168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1168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Q2/2026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85750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5750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Q3/2026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332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332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4914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4914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Q1/2027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39496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Q2/2027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4078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4078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Q3/2027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08660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Q4/2027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32420" y="1325880"/>
            <a:ext cx="845820" cy="365760"/>
          </a:xfrm>
          <a:prstGeom prst="rect">
            <a:avLst/>
          </a:prstGeom>
          <a:solidFill>
            <a:srgbClr val="003A79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32420" y="1325880"/>
            <a:ext cx="8458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Q1-Q2/2028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16916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Verticais IA Campinas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011680" y="1691640"/>
            <a:ext cx="67665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03220" y="1764792"/>
            <a:ext cx="3291840" cy="265176"/>
          </a:xfrm>
          <a:prstGeom prst="roundRect">
            <a:avLst>
              <a:gd name="adj" fmla="val 17241"/>
            </a:avLst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48940" y="1764792"/>
            <a:ext cx="32004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Q3/26: lançamento IA &amp; Indústria + IA &amp; Saúde · Q4/26: IA &amp; Varejo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65760" y="2103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Adensamento Sorocaba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011680" y="2103120"/>
            <a:ext cx="6766560" cy="411480"/>
          </a:xfrm>
          <a:prstGeom prst="rect">
            <a:avLst/>
          </a:prstGeom>
          <a:solidFill>
            <a:srgbClr val="EFEFF1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057400" y="2176272"/>
            <a:ext cx="4983480" cy="265176"/>
          </a:xfrm>
          <a:prstGeom prst="roundRect">
            <a:avLst>
              <a:gd name="adj" fmla="val 17241"/>
            </a:avLst>
          </a:prstGeom>
          <a:solidFill>
            <a:srgbClr val="0C63AA"/>
          </a:solidFill>
          <a:ln w="12700">
            <a:solidFill>
              <a:srgbClr val="0C63A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103120" y="2176272"/>
            <a:ext cx="48920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Q2/26: diagnóstico · Q1/27: lançamento Manufatura Avançada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65760" y="251460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Piracicaba B2B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11680" y="2514600"/>
            <a:ext cx="67665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49040" y="2587752"/>
            <a:ext cx="4137660" cy="265176"/>
          </a:xfrm>
          <a:prstGeom prst="roundRect">
            <a:avLst>
              <a:gd name="adj" fmla="val 17241"/>
            </a:avLst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94760" y="2587752"/>
            <a:ext cx="40462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Q4/26: estrutura B2B · Q1/27: MBA Transição Energética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365760" y="292608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Family Business Ind. 4.0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011680" y="2926080"/>
            <a:ext cx="6766560" cy="411480"/>
          </a:xfrm>
          <a:prstGeom prst="rect">
            <a:avLst/>
          </a:prstGeom>
          <a:solidFill>
            <a:srgbClr val="EFEFF1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94860" y="2999232"/>
            <a:ext cx="2446020" cy="265176"/>
          </a:xfrm>
          <a:prstGeom prst="roundRect">
            <a:avLst>
              <a:gd name="adj" fmla="val 17241"/>
            </a:avLst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640580" y="2999232"/>
            <a:ext cx="23545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Q1/27: lançamento · Q2-Q4/27: expansão 3 praças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365760" y="333756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Defender Saúde + Coop.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11680" y="3337560"/>
            <a:ext cx="6766560" cy="411480"/>
          </a:xfrm>
          <a:prstGeom prst="rect">
            <a:avLst/>
          </a:prstGeom>
          <a:solidFill>
            <a:srgbClr val="FFFFFF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057400" y="3410712"/>
            <a:ext cx="5829300" cy="265176"/>
          </a:xfrm>
          <a:prstGeom prst="roundRect">
            <a:avLst>
              <a:gd name="adj" fmla="val 17241"/>
            </a:avLst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103120" y="3410712"/>
            <a:ext cx="57378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Contínuo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365760" y="37490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Avaliação go/no-go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011680" y="3749040"/>
            <a:ext cx="6766560" cy="411480"/>
          </a:xfrm>
          <a:prstGeom prst="rect">
            <a:avLst/>
          </a:prstGeom>
          <a:solidFill>
            <a:srgbClr val="EFEFF1"/>
          </a:solidFill>
          <a:ln w="3810">
            <a:solidFill>
              <a:srgbClr val="D7D9DD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978140" y="3822192"/>
            <a:ext cx="754380" cy="265176"/>
          </a:xfrm>
          <a:prstGeom prst="roundRect">
            <a:avLst>
              <a:gd name="adj" fmla="val 17241"/>
            </a:avLst>
          </a:prstGeom>
          <a:solidFill>
            <a:srgbClr val="9B0A51"/>
          </a:solidFill>
          <a:ln w="12700">
            <a:solidFill>
              <a:srgbClr val="9B0A5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5262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trimestre apresenta um gate de decisão pré-acordado (slide seguinte). Pico de execução em Q1/2027 — 3 lançamentos simultâneos em Sorocaba, Piracicaba e Family Business.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 / 57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KPIS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por linha de ação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mensal à diretoria · gate trimestral go/no-go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627632" cy="3246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627632" cy="45720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887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Verticais IA Camp.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737360"/>
            <a:ext cx="1490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 time → 1ª turma ≤ 6 meses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IA &amp; Indústria ≥ 35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≥ 70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médio ≥ R$ 2.500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Margem contribuição ≥ 35%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84832" y="1188720"/>
            <a:ext cx="1627632" cy="3246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84832" y="1188720"/>
            <a:ext cx="1627632" cy="457200"/>
          </a:xfrm>
          <a:prstGeom prst="rect">
            <a:avLst/>
          </a:prstGeom>
          <a:solidFill>
            <a:srgbClr val="0C63AA"/>
          </a:solidFill>
          <a:ln w="12700">
            <a:solidFill>
              <a:srgbClr val="0C63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1887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Adensamento Sor.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76272" y="1737360"/>
            <a:ext cx="1490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/ planejado ≤ 110%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1º ano ≥ 120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B2B (Toyota, JCB) ≥ 30%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awareness top of mind premium ≥ 60%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03904" y="1188720"/>
            <a:ext cx="1627632" cy="3246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03904" y="1188720"/>
            <a:ext cx="1627632" cy="457200"/>
          </a:xfrm>
          <a:prstGeom prst="rect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9624" y="11887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Piracicaba B2B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95344" y="1737360"/>
            <a:ext cx="1490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Contratos B2B fechados ≥ 3 em 12 meses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Receita B2B ≥ R$ 5 mi/ano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B2B vs B2C ≥ 60%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22976" y="1188720"/>
            <a:ext cx="1627632" cy="3246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22976" y="1188720"/>
            <a:ext cx="1627632" cy="45720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68696" y="11887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Family Business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14416" y="1737360"/>
            <a:ext cx="1490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famílias industriais ≥ 30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Programa-piloto ≥ 20 sucessores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≥ 75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42048" y="1188720"/>
            <a:ext cx="1627632" cy="324612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242048" y="1188720"/>
            <a:ext cx="1627632" cy="457200"/>
          </a:xfrm>
          <a:prstGeom prst="rect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87768" y="118872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Saúde + Coop.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33488" y="1737360"/>
            <a:ext cx="1490472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Renovação Sicoob/Sicredi 100%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Expansão Coopercitrus/Coplacana ≥ 1 em 12 meses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900" dirty="0"/>
          </a:p>
          <a:p>
            <a:pPr marL="342900" indent="-342900">
              <a:buSzPct val="100000"/>
              <a:buChar char="●"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 Ops turma ≥ 30 alunos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65760" y="45262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Painel mensal à diretoria. Trimestralmente, gate de decisão go/no-go com critérios pré-acordados (próximo slide).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 / 57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GATES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Quatro gates de decisão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pré-acordados de Go ou Hold em 2026 e 2027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2011680" cy="31089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2011680" cy="411480"/>
          </a:xfrm>
          <a:prstGeom prst="rect">
            <a:avLst/>
          </a:prstGeom>
          <a:solidFill>
            <a:srgbClr val="008BC9"/>
          </a:solidFill>
          <a:ln w="12700">
            <a:solidFill>
              <a:srgbClr val="008B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Q4/2026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Mov. 1 — IA Campinas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1828800" cy="914400"/>
          </a:xfrm>
          <a:prstGeom prst="rect">
            <a:avLst/>
          </a:prstGeom>
          <a:solidFill>
            <a:srgbClr val="EAF4EB"/>
          </a:solidFill>
          <a:ln w="6350">
            <a:solidFill>
              <a:srgbClr val="89A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A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NPS ≥ 70 + matrículas ≥ 35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200400"/>
            <a:ext cx="1828800" cy="1097280"/>
          </a:xfrm>
          <a:prstGeom prst="rect">
            <a:avLst/>
          </a:prstGeom>
          <a:solidFill>
            <a:srgbClr val="FFF4E0"/>
          </a:solidFill>
          <a:ln w="6350">
            <a:solidFill>
              <a:srgbClr val="E292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246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HOLD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Matrículas &lt; 25 e NPS &lt; 60 → revisar produto/comunicação antes da turma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1280160"/>
            <a:ext cx="2011680" cy="31089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50592" y="1280160"/>
            <a:ext cx="2011680" cy="411480"/>
          </a:xfrm>
          <a:prstGeom prst="rect">
            <a:avLst/>
          </a:prstGeom>
          <a:solidFill>
            <a:srgbClr val="0C63AA"/>
          </a:solidFill>
          <a:ln w="12700">
            <a:solidFill>
              <a:srgbClr val="0C63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50592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Q1/2027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42032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Mov. 2 — Sorocaba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42032" y="2194560"/>
            <a:ext cx="1828800" cy="914400"/>
          </a:xfrm>
          <a:prstGeom prst="rect">
            <a:avLst/>
          </a:prstGeom>
          <a:solidFill>
            <a:srgbClr val="EAF4EB"/>
          </a:solidFill>
          <a:ln w="6350">
            <a:solidFill>
              <a:srgbClr val="89A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A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 ≤ 110% + matrículas pré-Sorocaba ≥ 50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542032" y="3200400"/>
            <a:ext cx="1828800" cy="1097280"/>
          </a:xfrm>
          <a:prstGeom prst="rect">
            <a:avLst/>
          </a:prstGeom>
          <a:solidFill>
            <a:srgbClr val="FFF4E0"/>
          </a:solidFill>
          <a:ln w="6350">
            <a:solidFill>
              <a:srgbClr val="E292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87752" y="3246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HOLD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Atrasos &gt; 30% → reavaliar (parceria local em vez de centro próprio)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35424" y="1280160"/>
            <a:ext cx="2011680" cy="31089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35424" y="1280160"/>
            <a:ext cx="2011680" cy="411480"/>
          </a:xfrm>
          <a:prstGeom prst="rect">
            <a:avLst/>
          </a:prstGeom>
          <a:solidFill>
            <a:srgbClr val="89A950"/>
          </a:solidFill>
          <a:ln w="12700">
            <a:solidFill>
              <a:srgbClr val="89A95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35424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Q2/2027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26864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Mov. 3 — Piracicaba B2B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26864" y="2194560"/>
            <a:ext cx="1828800" cy="914400"/>
          </a:xfrm>
          <a:prstGeom prst="rect">
            <a:avLst/>
          </a:prstGeom>
          <a:solidFill>
            <a:srgbClr val="EAF4EB"/>
          </a:solidFill>
          <a:ln w="6350">
            <a:solidFill>
              <a:srgbClr val="89A9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72584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A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 parcerias corporativas + 1 cooperativa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26864" y="3200400"/>
            <a:ext cx="1828800" cy="1097280"/>
          </a:xfrm>
          <a:prstGeom prst="rect">
            <a:avLst/>
          </a:prstGeom>
          <a:solidFill>
            <a:srgbClr val="FFF4E0"/>
          </a:solidFill>
          <a:ln w="6350">
            <a:solidFill>
              <a:srgbClr val="E292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72584" y="3246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HOLD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parceria → reavaliar viabilidade premium em Piracicaba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0256" y="1280160"/>
            <a:ext cx="2011680" cy="3108960"/>
          </a:xfrm>
          <a:prstGeom prst="rect">
            <a:avLst/>
          </a:prstGeom>
          <a:solidFill>
            <a:srgbClr val="EFEFF1"/>
          </a:solidFill>
          <a:ln w="6350">
            <a:solidFill>
              <a:srgbClr val="D7D9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20256" y="1280160"/>
            <a:ext cx="2011680" cy="411480"/>
          </a:xfrm>
          <a:prstGeom prst="rect">
            <a:avLst/>
          </a:prstGeom>
          <a:solidFill>
            <a:srgbClr val="FDDB51"/>
          </a:solidFill>
          <a:ln w="12700">
            <a:solidFill>
              <a:srgbClr val="FDDB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20256" y="128016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Q3/2027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11696" y="17830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Mov. 4 — Family Business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711696" y="2194560"/>
            <a:ext cx="1828800" cy="914400"/>
          </a:xfrm>
          <a:prstGeom prst="rect">
            <a:avLst/>
          </a:prstGeom>
          <a:solidFill>
            <a:srgbClr val="EAF4EB"/>
          </a:solidFill>
          <a:ln w="6350">
            <a:solidFill>
              <a:srgbClr val="89A95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757416" y="2240280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89A9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GO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20 matrículas piloto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711696" y="3200400"/>
            <a:ext cx="1828800" cy="1097280"/>
          </a:xfrm>
          <a:prstGeom prst="rect">
            <a:avLst/>
          </a:prstGeom>
          <a:solidFill>
            <a:srgbClr val="FFF4E0"/>
          </a:solidFill>
          <a:ln w="6350">
            <a:solidFill>
              <a:srgbClr val="E292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57416" y="3246120"/>
            <a:ext cx="1737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29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HOLD</a:t>
            </a:r>
            <a:endParaRPr lang="en-US" sz="11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15 → manter apenas Jundiaí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Critérios pré-definidos para evitar deliberações em tempo real sobre continuidade de cada linha. Disciplina de revisão de premissas a cada trimestre.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/ 57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008B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ENCERRAMENTO — DELIBERAÇÃO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3A7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Pontos para deliberação da diretoria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589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Mandatos abertos para aprovação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20700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070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143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Aprovação das 5 linhas de ação propostas para discussão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70992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709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14400" y="16459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total estimado entre R$ 11–19 mi em 18 meses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14884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21284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212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48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para adensar e consolidar a operação FGV em Sorocaba (operação direta já existente; ajuste gerência regional 2026)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65176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71576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1440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Mandato para estruturação de parcerias corporativas em Piracicaba (Hyundai, Raízen, Klabin, Koppert e cooperativas)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21868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2186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154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Decisão sobre reposicionamento ou descontinuação de MBAs em áreas de alta saturação competitiva (RH mid-tier)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65760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72160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721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36576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Implementação de painel mensal de monitoramento dos 9 fatores de risco competitivo mapeados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160520"/>
            <a:ext cx="8412480" cy="457200"/>
          </a:xfrm>
          <a:prstGeom prst="rect">
            <a:avLst/>
          </a:prstGeom>
          <a:solidFill>
            <a:srgbClr val="EFEFF1"/>
          </a:solidFill>
          <a:ln w="6350">
            <a:solidFill>
              <a:srgbClr val="008B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224528"/>
            <a:ext cx="329184" cy="329184"/>
          </a:xfrm>
          <a:prstGeom prst="ellipse">
            <a:avLst/>
          </a:prstGeom>
          <a:solidFill>
            <a:srgbClr val="003A79"/>
          </a:solidFill>
          <a:ln w="12700">
            <a:solidFill>
              <a:srgbClr val="003A7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2245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41605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5B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Definição de gates trimestrais com critérios pré-acordados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365760" y="484632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Educação Executiva  |  Inteligência de Mercado — 4 Praças  |  Mai/2026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863840" y="48463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886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 / 57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03A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2286000"/>
          </a:xfrm>
          <a:prstGeom prst="line">
            <a:avLst/>
          </a:prstGeom>
          <a:noFill/>
          <a:ln w="12700">
            <a:solidFill>
              <a:srgbClr val="0C63A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1828800" cy="1828800"/>
          </a:xfrm>
          <a:prstGeom prst="line">
            <a:avLst/>
          </a:prstGeom>
          <a:noFill/>
          <a:ln w="9525">
            <a:solidFill>
              <a:srgbClr val="73BF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1371600"/>
          </a:xfrm>
          <a:prstGeom prst="line">
            <a:avLst/>
          </a:prstGeom>
          <a:noFill/>
          <a:ln w="6350">
            <a:solidFill>
              <a:srgbClr val="73BF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 descritiva do estudo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Praças sob Lupa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79552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4 praças apresentam dinâmicas econômicas, sociais e competitivas distintas — sugerem leituras de portfolio e ticket diferenciadas.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Pecege é o concorrente competitivo regional mais relevante, sustentado por 4 pilares: polo, campus, inovação e investimentos.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FDC, Saint Paul, Insper, IBMEC METROCAMP e PUC-Campinas compõem o quadro complementar a ser monitorado.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operação FGV já está consolidada nas 4 praças — o passo discutido é o adensamento de portfolio e a qualificação de oferta por vertical.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elasticidade-preço observada na literatura aplicada sugere disciplina de ticket por valor percebido, com piloto empírico para validação.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4048"/>
          </a:xfrm>
          <a:prstGeom prst="rect">
            <a:avLst/>
          </a:prstGeom>
          <a:solidFill>
            <a:srgbClr val="002D4D"/>
          </a:solidFill>
          <a:ln w="12700">
            <a:solidFill>
              <a:srgbClr val="002D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7548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3BF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Obrigada — disponível para perguntas e aprofundamentos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6177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FAE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FGV  ·  Educação Executiva  ·  Inteligência de Dados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57</Slides>
  <Notes>57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 Praças sob Lupa — Inteligência de Mercado MBA FGV</dc:title>
  <dc:subject>PptxGenJS Presentation</dc:subject>
  <dc:creator>Gabriella Pinheiro — Data Intelligence FGV</dc:creator>
  <cp:lastModifiedBy>Gabriella Pinheiro — Data Intelligence FGV</cp:lastModifiedBy>
  <cp:revision>1</cp:revision>
  <dcterms:created xsi:type="dcterms:W3CDTF">2026-05-05T00:40:46Z</dcterms:created>
  <dcterms:modified xsi:type="dcterms:W3CDTF">2026-05-05T00:40:46Z</dcterms:modified>
</cp:coreProperties>
</file>